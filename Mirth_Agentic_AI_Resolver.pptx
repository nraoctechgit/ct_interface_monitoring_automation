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45720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B5A6"/>
                </a:solidFill>
                <a:latin typeface="Segoe UI"/>
              </a:rPr>
              <a:t>AGENTIC AI  ·  HEALTHCARE INTEGRATION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Segoe UI Light"/>
              </a:rPr>
              <a:t>Interface System Problem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AI Resolver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0">
                <a:solidFill>
                  <a:srgbClr val="C7D6E5"/>
                </a:solidFill>
                <a:latin typeface="Segoe UI"/>
              </a:rPr>
              <a:t>An autonomous diagnostic &amp; remediation agent for Mirth Connect / NextGen Connect —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C7D6E5"/>
                </a:solidFill>
                <a:latin typeface="Segoe UI"/>
              </a:rPr>
              <a:t>it investigates the live engine, diagnoses the incident, and hands the on-call team a fix.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Prepared for Senior Management &amp; CXO Review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9FB3C7"/>
                </a:solidFill>
                <a:latin typeface="Segoe UI"/>
              </a:rPr>
              <a:t>Functional validation  ·  Business impact  ·  Customer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The one-minute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12B5A6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Interface System Problem AI Resolver  ·  Agentic AI for Mirth / NextGen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6473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Confidential — Senior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B2733"/>
                </a:solidFill>
                <a:latin typeface="Segoe UI"/>
              </a:rPr>
              <a:t>Healthcare runs on interface engines. When a Mirth channel silently stops or a queue backs up, patient data stops flowing — and today that is caught late, by scarce specialists, under pressure.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3657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82296" cy="1600200"/>
          </a:xfrm>
          <a:prstGeom prst="round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478024"/>
            <a:ext cx="32918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The problem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Mirth fails in ~50 well-known ways across 11 layers.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Detection is manual, expertise is scarce, and mean-time-to-resolve is measured in hours.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331720"/>
            <a:ext cx="3657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2331720"/>
            <a:ext cx="82296" cy="1600200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478024"/>
            <a:ext cx="32918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What we built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An agentic AI that senses the engine, reasons over an 11-layer failure taxonomy,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and produces an evidence-based diagnosis + prioritized runbook — with safe, human-approved 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331720"/>
            <a:ext cx="36118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2331720"/>
            <a:ext cx="82296" cy="1600200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478024"/>
            <a:ext cx="32461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The payoff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Faster resolution, fewer outages, and senior expertise packaged into every on-call shift —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deployable even in air-gapped, PHI-sensitive hospital networks.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51960"/>
            <a:ext cx="26517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4251960"/>
            <a:ext cx="2651760" cy="100584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489704"/>
            <a:ext cx="24323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300" b="1">
                <a:solidFill>
                  <a:srgbClr val="12B5A6"/>
                </a:solidFill>
                <a:latin typeface="Segoe U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330952"/>
            <a:ext cx="24323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B2733"/>
                </a:solidFill>
                <a:latin typeface="Segoe UI"/>
              </a:rPr>
              <a:t>failure layers
continuously validated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251960"/>
            <a:ext cx="26517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91840" y="4251960"/>
            <a:ext cx="2651760" cy="100584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4489704"/>
            <a:ext cx="24323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300" b="1">
                <a:solidFill>
                  <a:srgbClr val="2F6FEB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5330952"/>
            <a:ext cx="24323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B2733"/>
                </a:solidFill>
                <a:latin typeface="Segoe UI"/>
              </a:rPr>
              <a:t>engines in one tool:
LLM · rule-based · RAG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4251960"/>
            <a:ext cx="26517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80760" y="4251960"/>
            <a:ext cx="2651760" cy="100584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4489704"/>
            <a:ext cx="24323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300" b="1">
                <a:solidFill>
                  <a:srgbClr val="1FA96B"/>
                </a:solidFill>
                <a:latin typeface="Segoe UI"/>
              </a:rPr>
              <a:t>79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5330952"/>
            <a:ext cx="24323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B2733"/>
                </a:solidFill>
                <a:latin typeface="Segoe UI"/>
              </a:rPr>
              <a:t>automated tests
proving the behavior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0" y="4251960"/>
            <a:ext cx="2834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69680" y="4251960"/>
            <a:ext cx="2834640" cy="100584"/>
          </a:xfrm>
          <a:prstGeom prst="roundRect">
            <a:avLst/>
          </a:prstGeom>
          <a:solidFill>
            <a:srgbClr val="F2A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9407" y="4489704"/>
            <a:ext cx="26151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300" b="1">
                <a:solidFill>
                  <a:srgbClr val="F2A50C"/>
                </a:solidFill>
                <a:latin typeface="Segoe UI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7" y="5330952"/>
            <a:ext cx="261518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B2733"/>
                </a:solidFill>
                <a:latin typeface="Segoe UI"/>
              </a:rPr>
              <a:t>extra dependencies &amp;
zero PHI leaves the host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Interface downtime is a clinical and business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12B5A6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Interface System Problem AI Resolver  ·  Agentic AI for Mirth / NextGen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6473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Confidential — Senior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B7B"/>
                </a:solidFill>
                <a:latin typeface="Segoe UI"/>
              </a:rPr>
              <a:t>Mirth Connect is the backbone moving HL7/FHIR messages between EHRs, labs, pharmacies and devices. Its failure modes are known — but operationally hard to catch and resolve.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82296" cy="1828800"/>
          </a:xfrm>
          <a:prstGeom prst="round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295144"/>
            <a:ext cx="2377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Silent failures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A channel stops or drops messages with no alert. Data flow halts before anyone notices.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1" y="214884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64991" y="2148840"/>
            <a:ext cx="82296" cy="1828800"/>
          </a:xfrm>
          <a:prstGeom prst="roundRect">
            <a:avLst/>
          </a:prstGeom>
          <a:solidFill>
            <a:srgbClr val="F2A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295144"/>
            <a:ext cx="2377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Scarce expertise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Root-causing OOM, Derby corruption or queue backpressure needs senior integration engineers.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214884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27064" y="2148840"/>
            <a:ext cx="82296" cy="1828800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2295144"/>
            <a:ext cx="2377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Slow MTTR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Triage is manual: hunt logs, check queues, read stats, correlate — often at 2 a.m.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214884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89136" y="2148840"/>
            <a:ext cx="82296" cy="1828800"/>
          </a:xfrm>
          <a:prstGeom prst="round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4" y="2295144"/>
            <a:ext cx="2377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Monitoring blind spots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Stopped channels, rising errors, full disks — frequently unmonitored until impact.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3400"/>
            <a:ext cx="112014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262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733"/>
                </a:solidFill>
                <a:latin typeface="Segoe UI"/>
              </a:rPr>
              <a:t>The 5 dominant real-incident patterns (what actually takes systems down)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3776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Memory exhaustion from an unpruned message store  ·  Derby run in production  ·  Unmonitored destination queues growing while an endpoint is down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Transformer exceptions on non-conformant messages (often silent)  ·  Missing alerting — a stopped channel, rising errors or a full disk with nobody notified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An agent that works the case like a senior SRE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12B5A6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Interface System Problem AI Resolver  ·  Agentic AI for Mirth / NextGen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6473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Confidential — Senior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B7B"/>
                </a:solidFill>
                <a:latin typeface="Segoe UI"/>
              </a:rPr>
              <a:t>Give it a symptom — “queue climbing”, “engine frozen” — and it runs a disciplined investigation loop, end to end, in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0312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82296" cy="1737360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249424"/>
            <a:ext cx="237744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733"/>
                </a:solidFill>
                <a:latin typeface="Segoe UI"/>
              </a:rPr>
              <a:t>1  GATHER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Pull channel states, queues, engine/host stats, message-store size &amp;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1" y="210312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64991" y="2103120"/>
            <a:ext cx="82296" cy="1737360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249424"/>
            <a:ext cx="237744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733"/>
                </a:solidFill>
                <a:latin typeface="Segoe UI"/>
              </a:rPr>
              <a:t>2  CORRELATE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Reconstruct the causal chain — trigger → amplifier → observed failure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210312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27064" y="2103120"/>
            <a:ext cx="82296" cy="1737360"/>
          </a:xfrm>
          <a:prstGeom prst="round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2249424"/>
            <a:ext cx="237744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733"/>
                </a:solidFill>
                <a:latin typeface="Segoe UI"/>
              </a:rPr>
              <a:t>3  DIAGNOSE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Classify against the 11-layer taxonomy; quantify every finding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210312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89136" y="2103120"/>
            <a:ext cx="82296" cy="1737360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4" y="2249424"/>
            <a:ext cx="237744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733"/>
                </a:solidFill>
                <a:latin typeface="Segoe UI"/>
              </a:rPr>
              <a:t>4  REMEDIATE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Prioritized runbook: stop-the-bleeding now + durable root-cause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733"/>
                </a:solidFill>
                <a:latin typeface="Segoe UI"/>
              </a:rPr>
              <a:t>Every diagnosis is evidence-based and structured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26280"/>
            <a:ext cx="3657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526280"/>
            <a:ext cx="82296" cy="1508760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672584"/>
            <a:ext cx="3291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Grounded, not guessed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Cites the actual numbers (heap 95%, queue 47,113).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States what it ruled out. Assigns an honest confidence.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526280"/>
            <a:ext cx="3657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97680" y="4526280"/>
            <a:ext cx="82296" cy="1508760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4672584"/>
            <a:ext cx="329184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Actionable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Immediate + durable steps, each with a way to verify it worked, plus the monitoring to prevent recurrence.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4526280"/>
            <a:ext cx="36118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92440" y="4526280"/>
            <a:ext cx="82296" cy="1508760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4672584"/>
            <a:ext cx="324612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Safe by design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Only whitelisted safe actions are offered, and only with explicit human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Architecture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12B5A6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Interface System Problem AI Resolver  ·  Agentic AI for Mirth / NextGen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6473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Confidential — Senior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74320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82296" cy="2880360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563624"/>
            <a:ext cx="237744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733"/>
                </a:solidFill>
                <a:latin typeface="Segoe UI"/>
              </a:rPr>
              <a:t>SENSES  (read-only tools)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Channel states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Destination queues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Engine / host stats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Mirth log tail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Message-store size &amp; pruning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417320"/>
            <a:ext cx="4160520" cy="2880360"/>
          </a:xfrm>
          <a:prstGeom prst="roundRect">
            <a:avLst/>
          </a:prstGeom>
          <a:solidFill>
            <a:srgbClr val="0F2A47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1417320"/>
            <a:ext cx="4160520" cy="457200"/>
          </a:xfrm>
          <a:prstGeom prst="round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149047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2B5A6"/>
                </a:solidFill>
                <a:latin typeface="Segoe UI"/>
              </a:rPr>
              <a:t>REASONING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011680"/>
            <a:ext cx="3703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Investigation loop with tool-use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C7D6E5"/>
                </a:solidFill>
                <a:latin typeface="Segoe UI"/>
              </a:rPr>
              <a:t>Grounded in the 11-layer failure taxonomy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2B5A6"/>
                </a:solidFill>
                <a:latin typeface="Segoe UI"/>
              </a:rPr>
              <a:t>Choose your engine: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• LLM agent (Claude) — deepest reasoning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• Local rule-based — offline, deterministic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• RAG case-memory — learns from 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347472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417320"/>
            <a:ext cx="82296" cy="2880360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563624"/>
            <a:ext cx="310896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733"/>
                </a:solidFill>
                <a:latin typeface="Segoe UI"/>
              </a:rPr>
              <a:t>STRUCTURED OUTPUT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Severity + confidence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Key signals &amp; causal chain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Layer classification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Immediate + durable runbook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Safe suggested actions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310128" y="2743200"/>
            <a:ext cx="329184" cy="256032"/>
          </a:xfrm>
          <a:prstGeom prst="rightArrow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882127" y="2743200"/>
            <a:ext cx="329184" cy="256032"/>
          </a:xfrm>
          <a:prstGeom prst="rightArrow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572000"/>
            <a:ext cx="11201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572000"/>
            <a:ext cx="82296" cy="1417320"/>
          </a:xfrm>
          <a:prstGeom prst="roundRect">
            <a:avLst/>
          </a:prstGeom>
          <a:solidFill>
            <a:srgbClr val="F2A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733"/>
                </a:solidFill>
                <a:latin typeface="Segoe UI"/>
              </a:rPr>
              <a:t>Human-in-the-loop remediation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Whitelisted safe actions (start channel, redeploy channel) execute only after explicit confirmation. Anything destructive or config-changing is recommend-only — written into the runbook for a human to perform.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Segoe UI"/>
              </a:rPr>
              <a:t>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The Mirth areas we validate — an 11-layer failure taxonomy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12B5A6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Interface System Problem AI Resolver  ·  Agentic AI for Mirth / NextGen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6473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Confidential — Senior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82296" cy="1170432"/>
          </a:xfrm>
          <a:prstGeom prst="round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517904"/>
            <a:ext cx="23774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733"/>
                </a:solidFill>
                <a:latin typeface="Segoe UI"/>
              </a:rPr>
              <a:t>1 · JVM &amp; Host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OOM, GC freeze, disk, file-descriptors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5" y="1371600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28415" y="1371600"/>
            <a:ext cx="82296" cy="1170432"/>
          </a:xfrm>
          <a:prstGeom prst="round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1517904"/>
            <a:ext cx="23774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733"/>
                </a:solidFill>
                <a:latin typeface="Segoe UI"/>
              </a:rPr>
              <a:t>2 · Database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Derby-in-prod, pool exhaustion, unbounded growth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1371600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53912" y="1371600"/>
            <a:ext cx="82296" cy="1170432"/>
          </a:xfrm>
          <a:prstGeom prst="roundRect">
            <a:avLst/>
          </a:prstGeom>
          <a:solidFill>
            <a:srgbClr val="F2A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1517904"/>
            <a:ext cx="23774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733"/>
                </a:solidFill>
                <a:latin typeface="Segoe UI"/>
              </a:rPr>
              <a:t>3 · Channel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Fails to deploy, stops silently, bad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408" y="1371600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79408" y="1371600"/>
            <a:ext cx="82296" cy="1170432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1517904"/>
            <a:ext cx="23774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733"/>
                </a:solidFill>
                <a:latin typeface="Segoe UI"/>
              </a:rPr>
              <a:t>4 · Source Connectors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MLLP framing/ACK, file &amp; DB readers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688336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2688336"/>
            <a:ext cx="82296" cy="1170432"/>
          </a:xfrm>
          <a:prstGeom prst="round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2834640"/>
            <a:ext cx="23774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733"/>
                </a:solidFill>
                <a:latin typeface="Segoe UI"/>
              </a:rPr>
              <a:t>5 · Destination Connectors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Timeouts, TLS, negative ACKs, queue growth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28415" y="2688336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28415" y="2688336"/>
            <a:ext cx="82296" cy="1170432"/>
          </a:xfrm>
          <a:prstGeom prst="roundRect">
            <a:avLst/>
          </a:prstGeom>
          <a:solidFill>
            <a:srgbClr val="F2A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9584" y="2834640"/>
            <a:ext cx="23774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733"/>
                </a:solidFill>
                <a:latin typeface="Segoe UI"/>
              </a:rPr>
              <a:t>6 · Transformation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Null fields, encoding, bad E4X, silent filters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2688336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53912" y="2688336"/>
            <a:ext cx="82296" cy="1170432"/>
          </a:xfrm>
          <a:prstGeom prst="round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2834640"/>
            <a:ext cx="23774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733"/>
                </a:solidFill>
                <a:latin typeface="Segoe UI"/>
              </a:rPr>
              <a:t>7 · Queue &amp; Delivery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Head-of-line blocking, retry storms, duplicates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9408" y="2688336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79408" y="2688336"/>
            <a:ext cx="82296" cy="1170432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576" y="2834640"/>
            <a:ext cx="23774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733"/>
                </a:solidFill>
                <a:latin typeface="Segoe UI"/>
              </a:rPr>
              <a:t>8 · Config &amp; Deployment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Wrong maps, dev-in-prod, missing JARs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005072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4005072"/>
            <a:ext cx="82296" cy="1170432"/>
          </a:xfrm>
          <a:prstGeom prst="roundRect">
            <a:avLst/>
          </a:prstGeom>
          <a:solidFill>
            <a:srgbClr val="F2A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4151376"/>
            <a:ext cx="23774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733"/>
                </a:solidFill>
                <a:latin typeface="Segoe UI"/>
              </a:rPr>
              <a:t>9 · Security &amp; Certs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Expired TLS, keystore, mutual-TLS, rotation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28415" y="4005072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328415" y="4005072"/>
            <a:ext cx="82296" cy="1170432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9584" y="4151376"/>
            <a:ext cx="23774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733"/>
                </a:solidFill>
                <a:latin typeface="Segoe UI"/>
              </a:rPr>
              <a:t>10 · Clustering / HA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Split-brain, contention, failover gaps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53912" y="4005072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53912" y="4005072"/>
            <a:ext cx="82296" cy="1170432"/>
          </a:xfrm>
          <a:prstGeom prst="round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79" y="4151376"/>
            <a:ext cx="237744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2733"/>
                </a:solidFill>
                <a:latin typeface="Segoe UI"/>
              </a:rPr>
              <a:t>11 · Monitoring Blind Spots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Stopped channels, error rates, disk, queue depth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9408" y="4005072"/>
            <a:ext cx="2743200" cy="1170432"/>
          </a:xfrm>
          <a:prstGeom prst="roundRect">
            <a:avLst/>
          </a:prstGeom>
          <a:solidFill>
            <a:srgbClr val="0F2A47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62288" y="4151376"/>
            <a:ext cx="2423160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2B5A6"/>
                </a:solidFill>
                <a:latin typeface="Segoe UI"/>
              </a:rPr>
              <a:t>~50 failure modes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each mapped to Mirth's exact recommended mitigation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Every diagnosis is anchored to this taxonomy — so guidance is consistent, explainable, and vendor-aligned.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Segoe UI"/>
              </a:rPr>
              <a:t>FUNCTIONAL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One incident, worked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12B5A6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Interface System Problem AI Resolver  ·  Agentic AI for Mirth / NextGen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6473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Confidential — Senior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B2733"/>
                </a:solidFill>
                <a:latin typeface="Segoe UI"/>
              </a:rPr>
              <a:t>Symptom reported: “engine frozen, OOM around 02:10.”  The agent gathers evidence and reconstructs the chain:</a:t>
            </a:r>
          </a:p>
        </p:txBody>
      </p:sp>
      <p:sp>
        <p:nvSpPr>
          <p:cNvPr id="10" name="Chevron 9"/>
          <p:cNvSpPr/>
          <p:nvPr/>
        </p:nvSpPr>
        <p:spPr>
          <a:xfrm>
            <a:off x="502920" y="1874519"/>
            <a:ext cx="1847088" cy="868680"/>
          </a:xfrm>
          <a:prstGeom prst="chevron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25400" bIns="2540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Endpoint down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Segoe UI"/>
              </a:rPr>
              <a:t>EHR listener
timed out</a:t>
            </a:r>
          </a:p>
        </p:txBody>
      </p:sp>
      <p:sp>
        <p:nvSpPr>
          <p:cNvPr id="11" name="Chevron 10"/>
          <p:cNvSpPr/>
          <p:nvPr/>
        </p:nvSpPr>
        <p:spPr>
          <a:xfrm>
            <a:off x="2240280" y="1874519"/>
            <a:ext cx="1847088" cy="868680"/>
          </a:xfrm>
          <a:prstGeom prst="chevron">
            <a:avLst/>
          </a:prstGeom>
          <a:solidFill>
            <a:srgbClr val="F2A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25400" bIns="2540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Queue grows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Segoe UI"/>
              </a:rPr>
              <a:t>47,113
messages</a:t>
            </a:r>
          </a:p>
        </p:txBody>
      </p:sp>
      <p:sp>
        <p:nvSpPr>
          <p:cNvPr id="12" name="Chevron 11"/>
          <p:cNvSpPr/>
          <p:nvPr/>
        </p:nvSpPr>
        <p:spPr>
          <a:xfrm>
            <a:off x="3977639" y="1874519"/>
            <a:ext cx="1847088" cy="868680"/>
          </a:xfrm>
          <a:prstGeom prst="chevron">
            <a:avLst/>
          </a:prstGeom>
          <a:solidFill>
            <a:srgbClr val="F2A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25400" bIns="2540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Store unpruned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Segoe UI"/>
              </a:rPr>
              <a:t>9.1M msgs
Derby, 613d</a:t>
            </a:r>
          </a:p>
        </p:txBody>
      </p:sp>
      <p:sp>
        <p:nvSpPr>
          <p:cNvPr id="13" name="Chevron 12"/>
          <p:cNvSpPr/>
          <p:nvPr/>
        </p:nvSpPr>
        <p:spPr>
          <a:xfrm>
            <a:off x="5714999" y="1874519"/>
            <a:ext cx="1847088" cy="868680"/>
          </a:xfrm>
          <a:prstGeom prst="chevron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25400" bIns="2540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Heap pressure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Segoe UI"/>
              </a:rPr>
              <a:t>3890/4096 MB
= 95%</a:t>
            </a:r>
          </a:p>
        </p:txBody>
      </p:sp>
      <p:sp>
        <p:nvSpPr>
          <p:cNvPr id="14" name="Chevron 13"/>
          <p:cNvSpPr/>
          <p:nvPr/>
        </p:nvSpPr>
        <p:spPr>
          <a:xfrm>
            <a:off x="7452360" y="1874519"/>
            <a:ext cx="1847088" cy="868680"/>
          </a:xfrm>
          <a:prstGeom prst="chevron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25400" bIns="2540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GC freeze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Segoe UI"/>
              </a:rPr>
              <a:t>41.8s
pause</a:t>
            </a:r>
          </a:p>
        </p:txBody>
      </p:sp>
      <p:sp>
        <p:nvSpPr>
          <p:cNvPr id="15" name="Chevron 14"/>
          <p:cNvSpPr/>
          <p:nvPr/>
        </p:nvSpPr>
        <p:spPr>
          <a:xfrm>
            <a:off x="9189720" y="1874519"/>
            <a:ext cx="1847088" cy="868680"/>
          </a:xfrm>
          <a:prstGeom prst="chevron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25400" bIns="2540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OOM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Segoe UI"/>
              </a:rPr>
              <a:t>engine
crash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063240"/>
            <a:ext cx="55321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063240"/>
            <a:ext cx="82296" cy="2926080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209544"/>
            <a:ext cx="516635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Diagnosis  (auto-generated)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Severity CRITICAL · confidence 95% · dominant pattern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Layers implicated: 1 JVM · 2 Database · 3 Channel · 5 Destination · 7 Queue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Also caught: 'Lab Results Inbound' STOPPED and undetected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Ruled out: CPU saturation (71%), TLS faults (none in log)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Latent risks flagged: disk 2% free, file-descriptors 99%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063240"/>
            <a:ext cx="55321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063240"/>
            <a:ext cx="82296" cy="2926080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209544"/>
            <a:ext cx="516635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Remediation  (prioritized runbook)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NOW: restart stopped channel · relieve heap · isolate/drain the dead endpoint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DURABLE: migrate off Derby · configure pruning/retention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DURABLE: bounded retries + Rotate Queue · right-size heap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MONITOR: alert on stopped channels, queue depth, disk &amp; error rates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SAFE ACTION offered: start_channel('Lab Results Inbound') — on approval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Segoe UI"/>
              </a:rPr>
              <a:t>DESIGN STRENGTH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Three engines, one contract — resilient and deployable anywhere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12B5A6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Interface System Problem AI Resolver  ·  Agentic AI for Mirth / NextGen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6473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Confidential — Senior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118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82296" cy="2834640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609344"/>
            <a:ext cx="32461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733"/>
                </a:solidFill>
                <a:latin typeface="Segoe UI"/>
              </a:rPr>
              <a:t>LLM Agent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Deepest reasoning over novel or ambiguous incidents.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Natural-language log understanding.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Best when connectivity &amp; an API key are 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36118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463040"/>
            <a:ext cx="82296" cy="2834640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609344"/>
            <a:ext cx="32461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733"/>
                </a:solidFill>
                <a:latin typeface="Segoe UI"/>
              </a:rPr>
              <a:t>Local Rule-Based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Deterministic, auditable, instant.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Runs fully OFFLINE — no API key, no network, no extra libraries.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Ideal for air-gapped hospital networks; no PHI ever leaves the host.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63040"/>
            <a:ext cx="36118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463040"/>
            <a:ext cx="82296" cy="2834640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609344"/>
            <a:ext cx="32461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733"/>
                </a:solidFill>
                <a:latin typeface="Segoe UI"/>
              </a:rPr>
              <a:t>RAG Case-Memory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Learns from every resolved incident.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Surfaces “we've seen this before” with the past root cause &amp; fix.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Grounds — never overrides — the verdict.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72000"/>
            <a:ext cx="11201400" cy="1417320"/>
          </a:xfrm>
          <a:prstGeom prst="roundRect">
            <a:avLst/>
          </a:prstGeom>
          <a:solidFill>
            <a:srgbClr val="0F2A47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3659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2B5A6"/>
                </a:solidFill>
                <a:latin typeface="Segoe UI"/>
              </a:rPr>
              <a:t>Why this matters to the 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389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Segoe UI"/>
              </a:rPr>
              <a:t>The same structured diagnosis is produced whether or not the cloud LLM is reachable — so the tool is dependable during the exact outage when it is needed most, and compliant in environments where sending operational data off-site is prohibited.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Segoe UI"/>
              </a:rPr>
              <a:t>CONTINUOUS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It gets smarter with every incident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12B5A6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Interface System Problem AI Resolver  ·  Agentic AI for Mirth / NextGen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6473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Confidential — Senior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B7B"/>
                </a:solidFill>
                <a:latin typeface="Segoe UI"/>
              </a:rPr>
              <a:t>A closed feedback loop turns each resolved incident into institutional memory — no model retraining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26974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148840"/>
            <a:ext cx="82296" cy="1554480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295144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733"/>
                </a:solidFill>
                <a:latin typeface="Segoe UI"/>
              </a:rPr>
              <a:t>RESOLVE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Engineer fixes the incident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09544" y="2788920"/>
            <a:ext cx="274320" cy="256032"/>
          </a:xfrm>
          <a:prstGeom prst="rightArrow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0" y="2148840"/>
            <a:ext cx="26974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2148840"/>
            <a:ext cx="82296" cy="1554480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295144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733"/>
                </a:solidFill>
                <a:latin typeface="Segoe UI"/>
              </a:rPr>
              <a:t>RECORD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Capture signals + root cause + fix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52744" y="2788920"/>
            <a:ext cx="274320" cy="256032"/>
          </a:xfrm>
          <a:prstGeom prst="rightArrow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2148840"/>
            <a:ext cx="26974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2148840"/>
            <a:ext cx="82296" cy="1554480"/>
          </a:xfrm>
          <a:prstGeom prst="round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295144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733"/>
                </a:solidFill>
                <a:latin typeface="Segoe UI"/>
              </a:rPr>
              <a:t>EMBED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Store in the vector case-memory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695944" y="2788920"/>
            <a:ext cx="274320" cy="256032"/>
          </a:xfrm>
          <a:prstGeom prst="rightArrow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15400" y="2148840"/>
            <a:ext cx="26974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15400" y="2148840"/>
            <a:ext cx="82296" cy="1554480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2295144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733"/>
                </a:solidFill>
                <a:latin typeface="Segoe UI"/>
              </a:rPr>
              <a:t>RECALL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Next similar incident surfaces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14800"/>
            <a:ext cx="5532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114800"/>
            <a:ext cx="82296" cy="1874519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4261104"/>
            <a:ext cx="5166359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Enterprise-friendly by default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Zero extra dependencies out of the box (deterministic embeddings).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Optional upgrade to semantic embeddings — one config change, no code change.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Runs on-prem; no incident data leaves your environment.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114800"/>
            <a:ext cx="5532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72200" y="4114800"/>
            <a:ext cx="82296" cy="1874519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261104"/>
            <a:ext cx="5166359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Trustworthy by design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Retrieval GROUNDS the diagnosis — attaches similar past cases and nudges confidence only on strong corroboration.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It never silently overrides a rule-based verdict, avoiding “confident-but-wrong” recall.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Segoe UI"/>
              </a:rPr>
              <a:t>TRUST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Safe, explainable, and auditable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12B5A6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Interface System Problem AI Resolver  ·  Agentic AI for Mirth / NextGen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6473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Confidential — Senior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532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82296" cy="1417320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563624"/>
            <a:ext cx="516635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Human-in-the-loop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Safe actions run only after explicit confirmation — never autonomously.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532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82296" cy="1417320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563624"/>
            <a:ext cx="516635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Least privilege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Only two whitelisted actions (start / redeploy channel). Destructive steps are recommend-only.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71800"/>
            <a:ext cx="5532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971800"/>
            <a:ext cx="82296" cy="1417320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118104"/>
            <a:ext cx="516635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Explainable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Every conclusion cites evidence, states what was ruled out, and carries a confidence score.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71800"/>
            <a:ext cx="5532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2971800"/>
            <a:ext cx="82296" cy="1417320"/>
          </a:xfrm>
          <a:prstGeom prst="round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118104"/>
            <a:ext cx="516635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Data residency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Local &amp; RAG modes keep all operational data and PHI on-host — no external calls.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26280"/>
            <a:ext cx="5532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526280"/>
            <a:ext cx="82296" cy="1417320"/>
          </a:xfrm>
          <a:prstGeom prst="roundRect">
            <a:avLst/>
          </a:prstGeom>
          <a:solidFill>
            <a:srgbClr val="F2A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672584"/>
            <a:ext cx="516635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Read-first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Investigation tools are strictly read-only; the engine cannot mutate config while diagnosing.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526280"/>
            <a:ext cx="5532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4526280"/>
            <a:ext cx="82296" cy="1417320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4672584"/>
            <a:ext cx="516635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Verifiable quality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79 automated tests lock the behavior; the local engine is a deterministic golden baseline.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Segoe U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How we prove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12B5A6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Interface System Problem AI Resolver  ·  Agentic AI for Mirth / NextGen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6473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Confidential — Senior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B7B"/>
                </a:solidFill>
                <a:latin typeface="Segoe UI"/>
              </a:rPr>
              <a:t>The solution ships with a full offline test suite — no API key, no server — exercising every functional area.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5740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057400"/>
            <a:ext cx="2651760" cy="100584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95144"/>
            <a:ext cx="24323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300" b="1">
                <a:solidFill>
                  <a:srgbClr val="1FA96B"/>
                </a:solidFill>
                <a:latin typeface="Segoe UI"/>
              </a:rPr>
              <a:t>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816352"/>
            <a:ext cx="24323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B2733"/>
                </a:solidFill>
                <a:latin typeface="Segoe UI"/>
              </a:rPr>
              <a:t>unit tests, all passing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05740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91840" y="2057400"/>
            <a:ext cx="2651760" cy="100584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2295144"/>
            <a:ext cx="24323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300" b="1">
                <a:solidFill>
                  <a:srgbClr val="12B5A6"/>
                </a:solidFill>
                <a:latin typeface="Segoe UI"/>
              </a:rPr>
              <a:t>11/11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816352"/>
            <a:ext cx="24323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B2733"/>
                </a:solidFill>
                <a:latin typeface="Segoe UI"/>
              </a:rPr>
              <a:t>failure layers exercised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057400"/>
            <a:ext cx="2651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0760" y="2057400"/>
            <a:ext cx="2651760" cy="100584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2295144"/>
            <a:ext cx="24323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300" b="1">
                <a:solidFill>
                  <a:srgbClr val="2F6FEB"/>
                </a:solidFill>
                <a:latin typeface="Segoe UI"/>
              </a:rPr>
              <a:t>&lt; 0.1s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2816352"/>
            <a:ext cx="243230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B2733"/>
                </a:solidFill>
                <a:latin typeface="Segoe UI"/>
              </a:rPr>
              <a:t>full suite runtime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2057400"/>
            <a:ext cx="2834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9680" y="2057400"/>
            <a:ext cx="2834640" cy="100584"/>
          </a:xfrm>
          <a:prstGeom prst="roundRect">
            <a:avLst/>
          </a:prstGeom>
          <a:solidFill>
            <a:srgbClr val="F2A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9407" y="2295144"/>
            <a:ext cx="26151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300" b="1">
                <a:solidFill>
                  <a:srgbClr val="F2A50C"/>
                </a:solidFill>
                <a:latin typeface="Segoe U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7" y="2816352"/>
            <a:ext cx="261518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B2733"/>
                </a:solidFill>
                <a:latin typeface="Segoe UI"/>
              </a:rPr>
              <a:t>external dependencies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703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733"/>
                </a:solidFill>
                <a:latin typeface="Segoe UI"/>
              </a:rPr>
              <a:t>What the tests validate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114800"/>
            <a:ext cx="36576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4114800"/>
            <a:ext cx="82296" cy="1874519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261104"/>
            <a:ext cx="329184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Correct diagnosis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Critical multi-layer incident classified correctly.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“Doesn't cry wolf” — clean signals stay low severity.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Every detector checked at its threshold.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114800"/>
            <a:ext cx="36576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97680" y="4114800"/>
            <a:ext cx="82296" cy="1874519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8848" y="4261104"/>
            <a:ext cx="329184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Resilience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Degrades gracefully when every sensor fails.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Handles missing / malformed engine data.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Agent tool-use loop verified without a network.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41148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92440" y="4114800"/>
            <a:ext cx="82296" cy="1874519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3608" y="4261104"/>
            <a:ext cx="324612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RAG integrity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Deterministic, normalized embeddings.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Recall + confidence-nudge behavior.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Survives an embedding-model swap.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Segoe UI"/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What it changes for the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12B5A6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Interface System Problem AI Resolver  ·  Agentic AI for Mirth / NextGen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6473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Confidential — Senior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7432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2743200" cy="100584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655064"/>
            <a:ext cx="25237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300" b="1">
                <a:solidFill>
                  <a:srgbClr val="1FA96B"/>
                </a:solidFill>
                <a:latin typeface="Segoe UI"/>
              </a:rPr>
              <a:t>↓ up to 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542032"/>
            <a:ext cx="252374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B2733"/>
                </a:solidFill>
                <a:latin typeface="Segoe UI"/>
              </a:rPr>
              <a:t>mean-time-to-resolve
on common incidents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7432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37560" y="1417320"/>
            <a:ext cx="2743200" cy="100584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655064"/>
            <a:ext cx="25237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300" b="1">
                <a:solidFill>
                  <a:srgbClr val="12B5A6"/>
                </a:solidFill>
                <a:latin typeface="Segoe UI"/>
              </a:rPr>
              <a:t>24×7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542032"/>
            <a:ext cx="252374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B2733"/>
                </a:solidFill>
                <a:latin typeface="Segoe UI"/>
              </a:rPr>
              <a:t>senior-level triage
on every shift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417320"/>
            <a:ext cx="27432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1417320"/>
            <a:ext cx="2743200" cy="100584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1655064"/>
            <a:ext cx="25237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300" b="1">
                <a:solidFill>
                  <a:srgbClr val="2F6FEB"/>
                </a:solidFill>
                <a:latin typeface="Segoe UI"/>
              </a:rPr>
              <a:t>↑ 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542032"/>
            <a:ext cx="252374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B2733"/>
                </a:solidFill>
                <a:latin typeface="Segoe UI"/>
              </a:rPr>
              <a:t>of critical HL7/FHIR
interfaces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417320"/>
            <a:ext cx="2697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06840" y="1417320"/>
            <a:ext cx="2697480" cy="100584"/>
          </a:xfrm>
          <a:prstGeom prst="roundRect">
            <a:avLst/>
          </a:prstGeom>
          <a:solidFill>
            <a:srgbClr val="F2A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6567" y="1655064"/>
            <a:ext cx="24780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300" b="1">
                <a:solidFill>
                  <a:srgbClr val="F2A50C"/>
                </a:solidFill>
                <a:latin typeface="Segoe UI"/>
              </a:rPr>
              <a:t>↓ escalations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542032"/>
            <a:ext cx="24780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B2733"/>
                </a:solidFill>
                <a:latin typeface="Segoe UI"/>
              </a:rPr>
              <a:t>fewer 2 a.m. calls to
scarce specialists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520440"/>
            <a:ext cx="55321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520440"/>
            <a:ext cx="82296" cy="2468880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666744"/>
            <a:ext cx="516635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Operational outcomes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Catch silent failures early — before clinicians and patients feel them.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Turn hours of manual log-hunting into a seconds-long, evidence-based diagnosis.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Standardize response quality — the newest engineer gets senior-grade guidance.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Prevention built in: each incident ends with the monitoring that stops the next one.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520440"/>
            <a:ext cx="55321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72200" y="3520440"/>
            <a:ext cx="82296" cy="2468880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3666744"/>
            <a:ext cx="516635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B2733"/>
                </a:solidFill>
                <a:latin typeface="Segoe UI"/>
              </a:rPr>
              <a:t>Strategic outcomes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Reduce dependence on a handful of irreplaceable integration experts.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Compliance-friendly: works on-prem / air-gapped with no PHI egress.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Institutional memory that compounds — knowledge stays even when staff turn over.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Segoe UI"/>
              </a:rPr>
              <a:t>A defensible, auditable AI story for regulated healthcare environments.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0533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7B"/>
                </a:solidFill>
                <a:latin typeface="Segoe UI"/>
              </a:rPr>
              <a:t>Figures are illustrative targets based on the failure classes automated, not a contractual guarantee.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Segoe UI"/>
              </a:rPr>
              <a:t>CUSTOMER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A day in the life — before vs. 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12B5A6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Interface System Problem AI Resolver  ·  Agentic AI for Mirth / NextGen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6473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Confidential — Senior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532120" cy="4480560"/>
          </a:xfrm>
          <a:prstGeom prst="roundRect">
            <a:avLst/>
          </a:prstGeom>
          <a:solidFill>
            <a:srgbClr val="FBECEC"/>
          </a:solidFill>
          <a:ln w="12700">
            <a:solidFill>
              <a:srgbClr val="F0C9C9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4F4F"/>
                </a:solidFill>
                <a:latin typeface="Segoe UI"/>
              </a:rPr>
              <a:t>BEFORE — reactive &amp;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5029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B2733"/>
                </a:solidFill>
                <a:latin typeface="Segoe UI"/>
              </a:rPr>
              <a:t>• A downstream EHR endpoint goes down overnight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B2733"/>
                </a:solidFill>
                <a:latin typeface="Segoe UI"/>
              </a:rPr>
              <a:t>• Queue silently grows to tens of thousands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B2733"/>
                </a:solidFill>
                <a:latin typeface="Segoe UI"/>
              </a:rPr>
              <a:t>• Heap fills; the engine freezes, then OOMs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B2733"/>
                </a:solidFill>
                <a:latin typeface="Segoe UI"/>
              </a:rPr>
              <a:t>• Morning: clinicians report missing results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B2733"/>
                </a:solidFill>
                <a:latin typeface="Segoe UI"/>
              </a:rPr>
              <a:t>• A specialist spends hours correlating logs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B2733"/>
                </a:solidFill>
                <a:latin typeface="Segoe UI"/>
              </a:rPr>
              <a:t>• Root cause found late; impact already felt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4480560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C4E8D5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A96B"/>
                </a:solidFill>
                <a:latin typeface="Segoe UI"/>
              </a:rPr>
              <a:t>AFTER — proactive &amp; AI-assisted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5029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B2733"/>
                </a:solidFill>
                <a:latin typeface="Segoe UI"/>
              </a:rPr>
              <a:t>• Watcher spots the stopped channel / growing queue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B2733"/>
                </a:solidFill>
                <a:latin typeface="Segoe UI"/>
              </a:rPr>
              <a:t>• Agent auto-triages within seconds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B2733"/>
                </a:solidFill>
                <a:latin typeface="Segoe UI"/>
              </a:rPr>
              <a:t>• Causal chain + root cause surfaced immediately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B2733"/>
                </a:solidFill>
                <a:latin typeface="Segoe UI"/>
              </a:rPr>
              <a:t>• Similar past incident + proven fix recalled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1B2733"/>
                </a:solidFill>
                <a:latin typeface="Segoe UI"/>
              </a:rPr>
              <a:t>• Safe action offered; on-call approves a restart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B2733"/>
                </a:solidFill>
                <a:latin typeface="Segoe UI"/>
              </a:rPr>
              <a:t>• Durable fixes + monitoring prevent recurrence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42432" y="3200400"/>
            <a:ext cx="457200" cy="457200"/>
          </a:xfrm>
          <a:prstGeom prst="rightArrow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Segoe U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Flexible modes — from demo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12B5A6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Interface System Problem AI Resolver  ·  Agentic AI for Mirth / NextGen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6473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Confidential — Senior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82296" cy="1691640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609344"/>
            <a:ext cx="3291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733"/>
                </a:solidFill>
                <a:latin typeface="Segoe UI"/>
              </a:rPr>
              <a:t>Triage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On-demand diagnosis of a single incident from a symptom or pasted logs.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463040"/>
            <a:ext cx="3657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79392" y="1463040"/>
            <a:ext cx="82296" cy="1691640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609344"/>
            <a:ext cx="3291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733"/>
                </a:solidFill>
                <a:latin typeface="Segoe UI"/>
              </a:rPr>
              <a:t>Watch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Continuous polling; auto-triage the moment a channel stops or a queue crosses a threshold.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3" y="1463040"/>
            <a:ext cx="3657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55863" y="1463040"/>
            <a:ext cx="82296" cy="1691640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609344"/>
            <a:ext cx="3291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733"/>
                </a:solidFill>
                <a:latin typeface="Segoe UI"/>
              </a:rPr>
              <a:t>Feedback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B6B7B"/>
                </a:solidFill>
                <a:latin typeface="Segoe UI"/>
              </a:rPr>
              <a:t>Record a resolved incident into case-memory to strengthen future recall.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29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733"/>
                </a:solidFill>
                <a:latin typeface="Segoe UI"/>
              </a:rPr>
              <a:t>Composable flags — dial capability to the environment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86200"/>
            <a:ext cx="2743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886200"/>
            <a:ext cx="82296" cy="1417320"/>
          </a:xfrm>
          <a:prstGeom prst="round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032504"/>
            <a:ext cx="23774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733"/>
                </a:solidFill>
                <a:latin typeface="Segoe UI"/>
              </a:rPr>
              <a:t>--mock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Built-in realistic data — instant demo, no server.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64991" y="3886200"/>
            <a:ext cx="2743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64991" y="3886200"/>
            <a:ext cx="82296" cy="1417320"/>
          </a:xfrm>
          <a:prstGeom prst="round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4032504"/>
            <a:ext cx="23774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733"/>
                </a:solidFill>
                <a:latin typeface="Segoe UI"/>
              </a:rPr>
              <a:t>--local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Rule-based engine — no API key, no network.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3886200"/>
            <a:ext cx="2743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27064" y="3886200"/>
            <a:ext cx="82296" cy="1417320"/>
          </a:xfrm>
          <a:prstGeom prst="round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1" y="4032504"/>
            <a:ext cx="23774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733"/>
                </a:solidFill>
                <a:latin typeface="Segoe UI"/>
              </a:rPr>
              <a:t>--rag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Case-memory grounding — learns over time.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89136" y="3886200"/>
            <a:ext cx="2743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89136" y="3886200"/>
            <a:ext cx="82296" cy="1417320"/>
          </a:xfrm>
          <a:prstGeom prst="roundRect">
            <a:avLst/>
          </a:prstGeom>
          <a:solidFill>
            <a:srgbClr val="14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0304" y="4032504"/>
            <a:ext cx="23774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B2733"/>
                </a:solidFill>
                <a:latin typeface="Segoe UI"/>
              </a:rPr>
              <a:t>--apply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Execute whitelisted safe actions with approval.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B6B7B"/>
                </a:solidFill>
                <a:latin typeface="Segoe UI"/>
              </a:rPr>
              <a:t>From a laptop demo to an on-prem production watcher, the same tool scales down and up — with the offline engine guaranteeing it always has a fallback.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B5A6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Where we take it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>
                <a:solidFill>
                  <a:srgbClr val="12B5A6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Interface System Problem AI Resolver  ·  Agentic AI for Mirth / NextGen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6473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Confidential — Senior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3611880" cy="566928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642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NEAR-TERM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423160"/>
            <a:ext cx="31546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1B2733"/>
                </a:solidFill>
                <a:latin typeface="Segoe UI"/>
              </a:rPr>
              <a:t>• Semantic (vector) embeddings for sharper recall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1B2733"/>
                </a:solidFill>
                <a:latin typeface="Segoe UI"/>
              </a:rPr>
              <a:t>• Richer log-narrative understanding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1B2733"/>
                </a:solidFill>
                <a:latin typeface="Segoe UI"/>
              </a:rPr>
              <a:t>• Operator dashboard &amp; shareable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554480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611880" cy="566928"/>
          </a:xfrm>
          <a:prstGeom prst="round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6642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MID-TERM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423160"/>
            <a:ext cx="31546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1B2733"/>
                </a:solidFill>
                <a:latin typeface="Segoe UI"/>
              </a:rPr>
              <a:t>• More whitelisted safe actions (guarded)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1B2733"/>
                </a:solidFill>
                <a:latin typeface="Segoe UI"/>
              </a:rPr>
              <a:t>• Multi-instance / fleet-wide triage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1B2733"/>
                </a:solidFill>
                <a:latin typeface="Segoe UI"/>
              </a:rPr>
              <a:t>• Native alerting &amp; ITSM/ticket integration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3" y="1554480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55863" y="1554480"/>
            <a:ext cx="3611880" cy="566928"/>
          </a:xfrm>
          <a:prstGeom prst="roundRect">
            <a:avLst/>
          </a:prstGeom>
          <a:solidFill>
            <a:srgbClr val="1F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3" y="16642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STRATEGIC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5" y="2423160"/>
            <a:ext cx="31546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1B2733"/>
                </a:solidFill>
                <a:latin typeface="Segoe UI"/>
              </a:rPr>
              <a:t>• Predictive detection before failure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1B2733"/>
                </a:solidFill>
                <a:latin typeface="Segoe UI"/>
              </a:rPr>
              <a:t>• Auto-generated prevention &amp; tuning advice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1B2733"/>
                </a:solidFill>
                <a:latin typeface="Segoe UI"/>
              </a:rPr>
              <a:t>• Cross-customer anonymized pattern library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B5A6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Segoe UI Light"/>
              </a:rPr>
              <a:t>Turn scarce interface expertise into an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always-on, self-improving AI resolver.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3429000" cy="1737360"/>
          </a:xfrm>
          <a:prstGeom prst="roundRect">
            <a:avLst/>
          </a:prstGeom>
          <a:solidFill>
            <a:srgbClr val="14375E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3429000" cy="82296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310128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2B5A6"/>
                </a:solidFill>
                <a:latin typeface="Segoe UI"/>
              </a:rPr>
              <a:t>Pilot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CFDDEB"/>
                </a:solidFill>
                <a:latin typeface="Segoe UI"/>
              </a:rPr>
              <a:t>Run against one production Mirth instance in read-only + local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108960"/>
            <a:ext cx="3429000" cy="1737360"/>
          </a:xfrm>
          <a:prstGeom prst="roundRect">
            <a:avLst/>
          </a:prstGeom>
          <a:solidFill>
            <a:srgbClr val="14375E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3108960"/>
            <a:ext cx="3429000" cy="82296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310128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2B5A6"/>
                </a:solidFill>
                <a:latin typeface="Segoe UI"/>
              </a:rPr>
              <a:t>Measure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CFDDEB"/>
                </a:solidFill>
                <a:latin typeface="Segoe UI"/>
              </a:rPr>
              <a:t>Baseline current MTTR; track reduction over a 60–90 day pilot.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429000" cy="1737360"/>
          </a:xfrm>
          <a:prstGeom prst="roundRect">
            <a:avLst/>
          </a:prstGeom>
          <a:solidFill>
            <a:srgbClr val="14375E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3108960"/>
            <a:ext cx="3429000" cy="82296"/>
          </a:xfrm>
          <a:prstGeom prst="roundRect">
            <a:avLst/>
          </a:prstGeom>
          <a:solidFill>
            <a:srgbClr val="12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310128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2B5A6"/>
                </a:solidFill>
                <a:latin typeface="Segoe UI"/>
              </a:rPr>
              <a:t>Expand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CFDDEB"/>
                </a:solidFill>
                <a:latin typeface="Segoe UI"/>
              </a:rPr>
              <a:t>Enable RAG case-memory and approved safe actions once trust is established.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Low risk, high leverage: read-only by default, offline-capable, fully tested —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2B5A6"/>
                </a:solidFill>
                <a:latin typeface="Segoe UI"/>
              </a:rPr>
              <a:t>and every incident makes it smarter.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FB3C7"/>
                </a:solidFill>
                <a:latin typeface="Segoe UI"/>
              </a:rPr>
              <a:t>Thank you  ·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